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67" r:id="rId3"/>
    <p:sldId id="259" r:id="rId4"/>
    <p:sldId id="270" r:id="rId5"/>
    <p:sldId id="271" r:id="rId6"/>
    <p:sldId id="280" r:id="rId7"/>
    <p:sldId id="276" r:id="rId8"/>
    <p:sldId id="287" r:id="rId9"/>
    <p:sldId id="272" r:id="rId10"/>
    <p:sldId id="274" r:id="rId11"/>
    <p:sldId id="281" r:id="rId12"/>
    <p:sldId id="282" r:id="rId13"/>
    <p:sldId id="284" r:id="rId14"/>
    <p:sldId id="288" r:id="rId15"/>
    <p:sldId id="285" r:id="rId16"/>
    <p:sldId id="291" r:id="rId17"/>
    <p:sldId id="292" r:id="rId18"/>
    <p:sldId id="278" r:id="rId19"/>
    <p:sldId id="283" r:id="rId20"/>
    <p:sldId id="279" r:id="rId21"/>
    <p:sldId id="257" r:id="rId22"/>
    <p:sldId id="290" r:id="rId23"/>
    <p:sldId id="268" r:id="rId24"/>
    <p:sldId id="289" r:id="rId25"/>
    <p:sldId id="265" r:id="rId26"/>
    <p:sldId id="266" r:id="rId27"/>
  </p:sldIdLst>
  <p:sldSz cx="18288000" cy="10287000"/>
  <p:notesSz cx="10287000" cy="18288000"/>
  <p:embeddedFontLst>
    <p:embeddedFont>
      <p:font typeface="Maven Pro Black" panose="020B0604020202020204" charset="0"/>
      <p:bold r:id="rId29"/>
    </p:embeddedFont>
    <p:embeddedFont>
      <p:font typeface="Maven Pro ExtraBold" panose="020B0604020202020204" charset="0"/>
      <p:bold r:id="rId30"/>
    </p:embeddedFont>
    <p:embeddedFont>
      <p:font typeface="Maven Pro Medium" panose="020B0604020202020204" charset="0"/>
      <p:regular r:id="rId31"/>
    </p:embeddedFont>
    <p:embeddedFont>
      <p:font typeface="Maven Pro Regular" panose="020B0604020202020204" charset="0"/>
      <p:regular r:id="rId32"/>
      <p:bold r:id="rId33"/>
      <p:italic r:id="rId34"/>
    </p:embeddedFont>
    <p:embeddedFont>
      <p:font typeface="Segoe UI Light" panose="020B0502040204020203" pitchFamily="34" charset="0"/>
      <p:regular r:id="rId35"/>
      <p:italic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2FFC"/>
    <a:srgbClr val="3644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>
        <p:scale>
          <a:sx n="30" d="100"/>
          <a:sy n="30" d="100"/>
        </p:scale>
        <p:origin x="2021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22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A9FDD-61DB-4E70-6DE7-05012623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63C8E-C6BC-993C-DC2A-E07E3D472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D28E3-1625-1088-A05F-A6C3CBE48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B2257-F445-C699-B6C4-300979CBE1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030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88276-EEEB-ABF0-ADDA-3FC4EEBD6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CAB63-5363-88EE-F856-DB5A66B31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B4129-7E47-5464-C088-28F462EF4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033A0-D6A6-3975-B730-96B56A544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34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7623F-089C-1A40-9A6D-13982051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27E91-80A3-811F-18D4-35974F48D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07DAE-7FE2-ADDD-8ABB-AE6825456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545E8-18C6-4A25-EF44-E3D68336D9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801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60CE-1DC2-E1F3-EC3F-67EC596EF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89D00-32DD-55A5-F5A9-152B11188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41486-6738-E646-7E45-39E8A366A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AD7F3-17FB-7331-17E6-FBD587641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132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A5DA-CBB7-F43D-7368-73CB0AB5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EC658-A7D9-726D-4241-FDF60F39A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80F50-1509-77A3-673D-4854D46D0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C56-23FE-F98D-892D-D13EA47F6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85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7465B-8E61-8E1F-6782-3015C5D31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460CD-F350-AEA3-F247-221ECD4F4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0C52D-3332-8C75-30E4-FB1C54A2F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43437-CEDB-20F5-445C-9E22A69DDF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63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A4B3E-B667-CEEC-970D-4179273C0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26CBD-FEC8-D016-FE99-6CC8CD980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26CDB-FCD7-A87F-59FC-B6319344F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F891E-4BEB-3931-CFE4-B7E410E0B3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80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F148-FAB9-83B9-B31D-0427E02EE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D9AF5-F8C9-B6E0-8575-D9548C944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157BF-395B-9AEA-7CF9-928F8272E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2B882-B485-9184-A792-DDCB8CDE7C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736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DF775-C82F-EDA7-49EC-E1130F516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30822-C4FF-0705-34DD-D229A230E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C0924A-0B0A-2D9D-DD84-F928A25C1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C243C-B923-6424-CEDF-F92956F86F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783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D5444-479B-1F33-54AA-16C73C8E7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83EBD-F129-A01A-FDD6-61C5C470D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73CCF-030C-EA98-0DFB-1CBFF1BD9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EB34B-6223-0BB3-F0C3-D0E1C90DB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34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86D81-E184-0370-C4DA-EACCDBE1F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DC759-CE48-0E36-3062-070A9E2B9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2214F-6DBF-A0BA-F750-0350203A0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B1AAB-9C37-3254-D929-8CDA50CBE3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60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8A746-4DE9-07A0-B100-3FD985D57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2E321-1C8E-5824-841A-961FE8D93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6B326-75C7-245C-73ED-134B3FD33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22192-363B-D7A4-1D48-06897E2D47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88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7C2F5-5404-226F-B14C-AE885FA71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624E6-6EF9-4B67-A105-1D2C02CA7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DE4B8-E064-15E8-3D5C-D9F8E47AF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5E605-7228-4728-5CAD-BAE783DA28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504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DC05D-155F-CB6D-ECDD-B6CE650D7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0C194-D3CD-67B8-AF95-EAC1B252F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B7EC1-0C10-BE8D-68F4-CA1AAEDE8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5EBE9-7042-5DCA-22DD-4331BB9FE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923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26708-4C71-460D-8A62-54CAAD1FE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273A0-8896-AD60-8434-461224B89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41328-3430-3E8C-C3AB-D5B2FC4E9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C4C3C-19EF-323D-9D67-66C7BF79AE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5410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70F73-D080-F183-47E1-6E0091622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ACAB5-A526-C69A-9CEF-B93779FF4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F05BD-71B6-429B-EB70-B62C99ECC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54A91-C8AF-F4A3-8461-E493642C2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235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80F8F-2D4A-C9E9-9F7C-E563D168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98F98-E3D3-43D4-2D88-6AD80E477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5C680-0822-0E8D-5FED-755F8EAB1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2350B-3230-EAD9-6488-E3BC8430E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79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340E3-8EA0-0E0C-7A8F-B650D267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D8FB0-6299-F43E-BD1C-125A19B51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5CACB-BCDE-4741-2BFC-8B35F840A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FFAA5-1889-2D28-303E-9BCE3D1B85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70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3BE34-30E9-5114-670C-17624096E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79F38-7E48-BEA3-42DF-A139A160D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044E1-2DEA-4027-818F-E73B83D68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1E2E8-2B44-885A-3922-F9D670498A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115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C3F04-4C57-3F65-BE93-3FED7F7AB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91C6D-9ECB-46CF-CB07-85A003F4F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84E20-29C5-3164-5C6F-6EB7DCB47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F4F73-D966-169F-4BB2-3A07BAA20A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110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8ACF-CB1D-24C1-590C-5C94049E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1AD0D-0C0F-B72B-16F9-066D1505A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1A930-1EF0-C7AD-79D7-2669302A9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94DA0-991E-8CEC-236C-E0666EE1E2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250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B8384-F36C-B159-1183-FEDBE4560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E2730-DF9E-4DEA-1B19-196CDE233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812AC-1664-9AE2-9359-F34549030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4938B-988C-352B-3FB1-EA2B792FAC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154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50DEA-E846-6D1B-628A-BEB1876B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5F356-F915-0541-55D3-FA117015A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C2A50-EC5C-37DF-9086-4F675051A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FB109-8A15-1C0F-9D08-051C5D3AAD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30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9534530"/>
            <a:ext cx="4267200" cy="547688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1" y="9534530"/>
            <a:ext cx="5791200" cy="547688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106403" y="9534530"/>
            <a:ext cx="4267200" cy="547688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3419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1.sv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D9D0CCDF-D0E3-A93B-8759-44BAE678C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25" y="1540218"/>
            <a:ext cx="3438525" cy="650532"/>
          </a:xfrm>
          <a:prstGeom prst="rect">
            <a:avLst/>
          </a:prstGeom>
        </p:spPr>
      </p:pic>
      <p:pic>
        <p:nvPicPr>
          <p:cNvPr id="5" name="Fram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A42FFC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248275" y="1543050"/>
            <a:ext cx="1933575" cy="647700"/>
          </a:xfrm>
          <a:prstGeom prst="rect">
            <a:avLst/>
          </a:prstGeom>
        </p:spPr>
      </p:pic>
      <p:sp>
        <p:nvSpPr>
          <p:cNvPr id="6" name="Tecnologia com propsito pessoas em movimento"/>
          <p:cNvSpPr/>
          <p:nvPr/>
        </p:nvSpPr>
        <p:spPr>
          <a:xfrm>
            <a:off x="1257299" y="2859405"/>
            <a:ext cx="10117283" cy="3457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37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Por que monitorar aplicações e outros recursos no Azure?</a:t>
            </a:r>
            <a:br>
              <a:rPr lang="en-US" sz="37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</a:br>
            <a:r>
              <a:rPr lang="pt-BR" sz="3700" b="1" dirty="0">
                <a:solidFill>
                  <a:srgbClr val="364459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De menores custos a projetos mais estáveis!</a:t>
            </a:r>
            <a:endParaRPr lang="en-US" sz="3700" b="1" dirty="0">
              <a:solidFill>
                <a:srgbClr val="364459"/>
              </a:solidFill>
              <a:latin typeface="Maven Pro Black" pitchFamily="2" charset="77"/>
            </a:endParaRPr>
          </a:p>
        </p:txBody>
      </p:sp>
      <p:sp>
        <p:nvSpPr>
          <p:cNvPr id="8" name="Edio 2025"/>
          <p:cNvSpPr/>
          <p:nvPr/>
        </p:nvSpPr>
        <p:spPr>
          <a:xfrm>
            <a:off x="5630008" y="1625843"/>
            <a:ext cx="12455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A42FFC"/>
                </a:solidFill>
                <a:latin typeface="Maven Pro Medium" pitchFamily="34" charset="0"/>
                <a:ea typeface="Maven Pro Medium" pitchFamily="34" charset="-122"/>
                <a:cs typeface="Maven Pro Medium" pitchFamily="34" charset="-120"/>
              </a:rPr>
              <a:t>Regional</a:t>
            </a:r>
            <a:endParaRPr lang="en-US" sz="2400" dirty="0">
              <a:solidFill>
                <a:srgbClr val="A42FFC"/>
              </a:solidFill>
            </a:endParaRPr>
          </a:p>
        </p:txBody>
      </p:sp>
      <p:sp>
        <p:nvSpPr>
          <p:cNvPr id="9" name="contatomvpconfcombr"/>
          <p:cNvSpPr/>
          <p:nvPr/>
        </p:nvSpPr>
        <p:spPr>
          <a:xfrm>
            <a:off x="1257300" y="8315325"/>
            <a:ext cx="424603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06" b="1" dirty="0"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Renato Groffe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2606" b="1" dirty="0">
                <a:latin typeface="Maven Pro Regular" pitchFamily="34" charset="0"/>
                <a:cs typeface="Maven Pro Regular" pitchFamily="34" charset="-120"/>
              </a:rPr>
              <a:t>Milton Camara</a:t>
            </a:r>
            <a:endParaRPr lang="en-US" sz="2606" b="1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CD934A86-9AD8-2EF8-1295-9BED0C0F55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013" b="25706"/>
          <a:stretch>
            <a:fillRect/>
          </a:stretch>
        </p:blipFill>
        <p:spPr>
          <a:xfrm>
            <a:off x="5865746" y="-1"/>
            <a:ext cx="12422254" cy="1028700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258DE960-FC0A-771A-B4D6-2432D70C25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2312" y="3851564"/>
            <a:ext cx="8041426" cy="6435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89790-66CB-1C69-D845-44C8F48A7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16BCADB-6B58-B706-96D4-1428A9B82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75" y="732972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5219689D-32D4-2514-A99E-1CE61F1D70EF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E71CF8BE-6CA3-C07F-6F81-3CB3EC963B29}"/>
              </a:ext>
            </a:extLst>
          </p:cNvPr>
          <p:cNvSpPr/>
          <p:nvPr/>
        </p:nvSpPr>
        <p:spPr>
          <a:xfrm>
            <a:off x="3878604" y="1187331"/>
            <a:ext cx="10763207" cy="1493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8023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Nossos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A42FFC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6600" b="1" i="0" u="none" strike="noStrike" kern="1200" cap="none" spc="0" normalizeH="0" baseline="0" noProof="0" dirty="0" err="1">
                <a:ln>
                  <a:noFill/>
                </a:ln>
                <a:solidFill>
                  <a:srgbClr val="A42FFC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Patrocinadores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A42FFC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1" name="Tecnologia  o meio Pessoas so o fim">
            <a:extLst>
              <a:ext uri="{FF2B5EF4-FFF2-40B4-BE49-F238E27FC236}">
                <a16:creationId xmlns:a16="http://schemas.microsoft.com/office/drawing/2014/main" id="{8B0F5D27-72DF-1565-C3BC-78A909E4F801}"/>
              </a:ext>
            </a:extLst>
          </p:cNvPr>
          <p:cNvSpPr/>
          <p:nvPr/>
        </p:nvSpPr>
        <p:spPr>
          <a:xfrm>
            <a:off x="6010275" y="8714664"/>
            <a:ext cx="62674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355"/>
              </a:spcAft>
              <a:buClrTx/>
              <a:buSzTx/>
              <a:buFontTx/>
              <a:buNone/>
              <a:tabLst/>
              <a:defRPr/>
            </a:pPr>
            <a:endParaRPr kumimoji="0" lang="en-US" sz="255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+mn-ea"/>
              <a:cs typeface="+mn-cs"/>
            </a:endParaRPr>
          </a:p>
        </p:txBody>
      </p:sp>
      <p:sp>
        <p:nvSpPr>
          <p:cNvPr id="12" name="Terminador 11">
            <a:extLst>
              <a:ext uri="{FF2B5EF4-FFF2-40B4-BE49-F238E27FC236}">
                <a16:creationId xmlns:a16="http://schemas.microsoft.com/office/drawing/2014/main" id="{FF1414C9-2822-4294-76B9-A94612D9EADC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ven Pro ExtraBold" pitchFamily="2" charset="77"/>
                <a:ea typeface="+mn-ea"/>
                <a:cs typeface="+mn-cs"/>
              </a:rPr>
              <a:t>Regional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3C4A52F3-A73E-DF2B-2FA1-80ABD81F6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39663"/>
            <a:ext cx="8859695" cy="22407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E3B1D32-1E05-E413-CF6A-55FE86294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676940"/>
            <a:ext cx="8075704" cy="235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943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6611F980-4920-46E0-193D-01D000A6F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/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/>
          <p:cNvSpPr/>
          <p:nvPr/>
        </p:nvSpPr>
        <p:spPr>
          <a:xfrm>
            <a:off x="762000" y="1360929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Renato Groffe</a:t>
            </a:r>
            <a:endParaRPr lang="en-US" sz="6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/>
          <p:cNvSpPr/>
          <p:nvPr/>
        </p:nvSpPr>
        <p:spPr>
          <a:xfrm>
            <a:off x="762001" y="2302449"/>
            <a:ext cx="12058650" cy="469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Microsoft Most Valuable Professional (MVP)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Docker Captain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Grafana Champion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APISEC U Ambassador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Multi-</a:t>
            </a:r>
            <a:r>
              <a:rPr lang="en-US" sz="23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Plataform</a:t>
            </a:r>
            <a:r>
              <a:rPr lang="en-US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Technical Audience Contributor (MTAC)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3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Arquiteto</a:t>
            </a:r>
            <a:r>
              <a:rPr lang="en-US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de </a:t>
            </a:r>
            <a:r>
              <a:rPr lang="en-US" sz="23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Soluções</a:t>
            </a:r>
            <a:r>
              <a:rPr lang="en-US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/Software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+20 </a:t>
            </a:r>
            <a:r>
              <a:rPr lang="en-US" sz="23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anos</a:t>
            </a:r>
            <a:r>
              <a:rPr lang="en-US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de </a:t>
            </a:r>
            <a:r>
              <a:rPr lang="en-US" sz="23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experiência</a:t>
            </a:r>
            <a:r>
              <a:rPr lang="en-US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23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na</a:t>
            </a:r>
            <a:r>
              <a:rPr lang="en-US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23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área</a:t>
            </a:r>
            <a:r>
              <a:rPr lang="en-US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de </a:t>
            </a:r>
            <a:r>
              <a:rPr lang="en-US" sz="23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Tecnologia</a:t>
            </a:r>
            <a:endParaRPr lang="en-US" sz="23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Community Leader, Autor Técnico e </a:t>
            </a:r>
            <a:r>
              <a:rPr lang="en-US" sz="23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Palestrante</a:t>
            </a:r>
            <a:endParaRPr lang="en-US" sz="23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F6278BE9-20E6-1C26-67D5-71FBBA8F47EE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3" name="Imagem 2" descr="Código QR&#10;&#10;O conteúdo gerado por IA pode estar incorreto.">
            <a:extLst>
              <a:ext uri="{FF2B5EF4-FFF2-40B4-BE49-F238E27FC236}">
                <a16:creationId xmlns:a16="http://schemas.microsoft.com/office/drawing/2014/main" id="{AADD8513-B0FB-67E3-37A9-3EDA42FF7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6528" y="5439118"/>
            <a:ext cx="3365560" cy="336556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EDBBE82-688B-1C81-60F8-AD137E9AF1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38580" y="2288135"/>
            <a:ext cx="2839823" cy="315098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1234A066-DB79-0164-9716-9D55E54AA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1" y="8099855"/>
            <a:ext cx="3098211" cy="125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CB6E77C7-AD63-62F2-E37A-F0211C846D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620" y="7619241"/>
            <a:ext cx="2118037" cy="211803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3000DB0F-DACD-E0BB-281E-72747727B9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9809" y="7470325"/>
            <a:ext cx="2415867" cy="2415867"/>
          </a:xfrm>
          <a:prstGeom prst="rect">
            <a:avLst/>
          </a:prstGeom>
        </p:spPr>
      </p:pic>
      <p:pic>
        <p:nvPicPr>
          <p:cNvPr id="20" name="Imagem 19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884FEDBD-4794-22D9-F416-B9C1E169B2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92636" y="7224022"/>
            <a:ext cx="2564619" cy="2564619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9332AF47-6F31-B846-E619-7AEE6386BB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27053" y="7183750"/>
            <a:ext cx="3104952" cy="30878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02A06-1C95-20E2-87CE-FAEAB8979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62125716-8801-F07C-FC84-CE0C1DF1E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E74DDC14-C898-3324-5FAB-366D2C9DA635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7276A270-14B0-FA53-BB17-487679EF9050}"/>
              </a:ext>
            </a:extLst>
          </p:cNvPr>
          <p:cNvSpPr/>
          <p:nvPr/>
        </p:nvSpPr>
        <p:spPr>
          <a:xfrm>
            <a:off x="762000" y="1360929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Milton Camara</a:t>
            </a:r>
            <a:endParaRPr lang="en-US" sz="6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576DFDA7-B8B6-642B-016A-A9FC0A99D870}"/>
              </a:ext>
            </a:extLst>
          </p:cNvPr>
          <p:cNvSpPr/>
          <p:nvPr/>
        </p:nvSpPr>
        <p:spPr>
          <a:xfrm>
            <a:off x="762001" y="2662671"/>
            <a:ext cx="12058650" cy="469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Microsoft Most </a:t>
            </a:r>
            <a:r>
              <a:rPr lang="pt-BR" sz="23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Valuable</a:t>
            </a:r>
            <a:r>
              <a:rPr lang="pt-BR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Professional (MVP)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Head de Engenharia – </a:t>
            </a:r>
            <a:r>
              <a:rPr lang="pt-BR" sz="23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Robbu</a:t>
            </a:r>
            <a:r>
              <a:rPr lang="pt-BR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Tecnologia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Arquiteto de Soluções/Software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+20 anos de experiência na área de Tecnologia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Community </a:t>
            </a:r>
            <a:r>
              <a:rPr lang="pt-BR" sz="23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Leader</a:t>
            </a:r>
            <a:r>
              <a:rPr lang="pt-BR" sz="23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, Autor Técnico e Palestrante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sz="23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3A9D31C7-AA74-F20C-81A3-1527A4B31849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3819968B-425E-97BD-4ABB-B514F870F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1" y="8099855"/>
            <a:ext cx="3098211" cy="125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imagem do perfil">
            <a:extLst>
              <a:ext uri="{FF2B5EF4-FFF2-40B4-BE49-F238E27FC236}">
                <a16:creationId xmlns:a16="http://schemas.microsoft.com/office/drawing/2014/main" id="{4EB9A904-0DE0-82B0-41D7-C77E82C18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437" y="2389946"/>
            <a:ext cx="3049172" cy="304917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0668AFA0-E91C-9B79-9166-19AACF9576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60957" y="5675688"/>
            <a:ext cx="3104951" cy="304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142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A806D-60E7-83AA-2753-CA77EBB9B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3E7D80C1-086C-801B-5C4A-4125D0015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54A74BCD-58D2-B4F9-2777-537C7337F429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9FB35863-C4F1-0103-0AD1-A65E6B771EEF}"/>
              </a:ext>
            </a:extLst>
          </p:cNvPr>
          <p:cNvSpPr/>
          <p:nvPr/>
        </p:nvSpPr>
        <p:spPr>
          <a:xfrm>
            <a:off x="762000" y="1360929"/>
            <a:ext cx="10709564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53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Conteúdos</a:t>
            </a:r>
            <a:r>
              <a:rPr lang="en-US" sz="53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53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desta</a:t>
            </a:r>
            <a:r>
              <a:rPr lang="en-US" sz="53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53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apresentação</a:t>
            </a:r>
            <a:endParaRPr lang="en-US" sz="53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1E33C5BE-FABE-9983-09FF-78081BA709DF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26E745-6B4E-28C4-36F5-ABA648F65CD7}"/>
              </a:ext>
            </a:extLst>
          </p:cNvPr>
          <p:cNvSpPr txBox="1">
            <a:spLocks/>
          </p:cNvSpPr>
          <p:nvPr/>
        </p:nvSpPr>
        <p:spPr>
          <a:xfrm>
            <a:off x="11790325" y="4454711"/>
            <a:ext cx="4762500" cy="117369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44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44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44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44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44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9D7FDE0B-A000-AEBE-543C-580DE7E83512}"/>
              </a:ext>
            </a:extLst>
          </p:cNvPr>
          <p:cNvSpPr>
            <a:spLocks noGrp="1"/>
          </p:cNvSpPr>
          <p:nvPr/>
        </p:nvSpPr>
        <p:spPr>
          <a:xfrm>
            <a:off x="1066800" y="8139048"/>
            <a:ext cx="16306800" cy="7386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>
                <a:solidFill>
                  <a:schemeClr val="bg1"/>
                </a:solidFill>
              </a:rPr>
              <a:t>github.com/renatogroffe/monitoramento-azure_mvpconf-jundiai-2026-08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4E2069BD-E2A3-1153-4951-BD1D98E3A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627" y="2673927"/>
            <a:ext cx="4939145" cy="493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288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D63911-1B90-D110-8AF3-3E701B715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E09DCC7D-500E-BA98-06CB-90E467066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F76B5270-6AB1-719E-9B06-DB38FED1FC7B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092EB52E-9812-04E5-7AD4-4910B8EEEDEF}"/>
              </a:ext>
            </a:extLst>
          </p:cNvPr>
          <p:cNvSpPr/>
          <p:nvPr/>
        </p:nvSpPr>
        <p:spPr>
          <a:xfrm>
            <a:off x="762000" y="1360929"/>
            <a:ext cx="10709564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53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Agenda</a:t>
            </a:r>
            <a:endParaRPr lang="en-US" sz="53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182A367F-F34E-9881-D2ED-04574D15D739}"/>
              </a:ext>
            </a:extLst>
          </p:cNvPr>
          <p:cNvSpPr/>
          <p:nvPr/>
        </p:nvSpPr>
        <p:spPr>
          <a:xfrm>
            <a:off x="762001" y="2662671"/>
            <a:ext cx="11568544" cy="5968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Monitoramento e </a:t>
            </a:r>
            <a:r>
              <a:rPr lang="pt-BR" sz="34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Observabilidade</a:t>
            </a:r>
            <a:r>
              <a:rPr lang="pt-BR" sz="3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: uma visão geral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Azure Monitor</a:t>
            </a:r>
            <a:endParaRPr lang="en-US" sz="34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Application Insights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Log Analytics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Azure Managed Grafana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Prometheus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4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Exemplos</a:t>
            </a:r>
            <a:r>
              <a:rPr lang="en-US" sz="3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34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práticos</a:t>
            </a:r>
            <a:endParaRPr lang="pt-BR" sz="34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2B1AF5FA-A5AB-84B6-9ED7-5E34EC7A3EA5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BB282EAC-A163-FC3A-147E-B43FBD0B6B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5761" y="4767366"/>
            <a:ext cx="5540902" cy="311675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1B23E39B-662C-987F-025E-1AF35DD936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42684" y="2872463"/>
            <a:ext cx="292417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23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B45D2-0447-3B84-2CC1-58EB94BF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234CFBA8-E106-514E-FC2A-B1291CC3B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D8AA4493-8C9C-0242-DDD3-35F2A6367532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3EBA82DE-C0DE-1796-E0D9-014A60D6A073}"/>
              </a:ext>
            </a:extLst>
          </p:cNvPr>
          <p:cNvSpPr/>
          <p:nvPr/>
        </p:nvSpPr>
        <p:spPr>
          <a:xfrm>
            <a:off x="762000" y="1360929"/>
            <a:ext cx="10709564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Por </a:t>
            </a:r>
            <a:r>
              <a:rPr lang="en-US" sz="6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que</a:t>
            </a: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6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monitorar</a:t>
            </a: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?</a:t>
            </a:r>
            <a:endParaRPr lang="en-US" sz="6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44DAEED4-B10E-367C-3BA3-2933E501D3AD}"/>
              </a:ext>
            </a:extLst>
          </p:cNvPr>
          <p:cNvSpPr/>
          <p:nvPr/>
        </p:nvSpPr>
        <p:spPr>
          <a:xfrm>
            <a:off x="762001" y="2662671"/>
            <a:ext cx="10487890" cy="5968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Acompanhamento de problemas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Identificação de gargalos de performance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Redução do tempo de indisponibilidade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Análise contínua visando oportunidades de melhorias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Decisões baseadas em dados reais, ao invés de puro achismo</a:t>
            </a:r>
            <a:endParaRPr lang="en-US" sz="36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F16D85E2-903F-B5EE-7B4B-AC4B849944B9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3" name="Imagem 2" descr="Faca em cima de uma superfície de madeira&#10;&#10;Descrição gerada automaticamente com confiança baixa">
            <a:extLst>
              <a:ext uri="{FF2B5EF4-FFF2-40B4-BE49-F238E27FC236}">
                <a16:creationId xmlns:a16="http://schemas.microsoft.com/office/drawing/2014/main" id="{F0B6D675-01FE-AB89-8C3C-3DCAD7F81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0744" y="3564944"/>
            <a:ext cx="5070135" cy="3374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0410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7C32F4-92DC-86E8-5334-C84D2BB7E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725885DB-1F34-C69F-D65D-716D30BE3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E67AA6ED-993E-D476-0BE9-F6B97B1159F1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DA0DBB2E-7909-33D1-928D-9FDFB317A5F3}"/>
              </a:ext>
            </a:extLst>
          </p:cNvPr>
          <p:cNvSpPr/>
          <p:nvPr/>
        </p:nvSpPr>
        <p:spPr>
          <a:xfrm>
            <a:off x="762000" y="1360929"/>
            <a:ext cx="10709564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O </a:t>
            </a:r>
            <a:r>
              <a:rPr lang="en-US" sz="6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que</a:t>
            </a: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6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monitorar</a:t>
            </a: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?</a:t>
            </a:r>
            <a:endParaRPr lang="en-US" sz="6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D570CEBB-BD6D-B6CA-C443-5CF379C768A7}"/>
              </a:ext>
            </a:extLst>
          </p:cNvPr>
          <p:cNvSpPr/>
          <p:nvPr/>
        </p:nvSpPr>
        <p:spPr>
          <a:xfrm>
            <a:off x="762001" y="2662671"/>
            <a:ext cx="10487890" cy="5968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Sites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APIs REST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Soluções de Inteligência Artificial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Containers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Máquinas-virtuais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Rede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Clusters </a:t>
            </a:r>
            <a:r>
              <a:rPr lang="pt-BR" sz="28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Kubernetes</a:t>
            </a:r>
            <a:endParaRPr lang="pt-BR" sz="28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Bancos de Dados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...</a:t>
            </a:r>
            <a:endParaRPr lang="en-US" sz="28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7A2DC132-7EA0-AA13-8668-AA4DBED13E5A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3" name="Imagem 2" descr="Faca em cima de uma superfície de madeira&#10;&#10;Descrição gerada automaticamente com confiança baixa">
            <a:extLst>
              <a:ext uri="{FF2B5EF4-FFF2-40B4-BE49-F238E27FC236}">
                <a16:creationId xmlns:a16="http://schemas.microsoft.com/office/drawing/2014/main" id="{A91D17E3-C445-1E33-B810-CD2A3FC2E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0744" y="3564944"/>
            <a:ext cx="5070135" cy="3374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6173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99620-46E9-7AAD-E1A9-CEE22DDCB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67CA3C3F-0A55-0422-72B7-07C13C5D6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2DFD2F5D-3597-D0D7-8ECC-DAF483D6FF2D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08080AB0-6274-F3B0-03C6-C0E11DF6D808}"/>
              </a:ext>
            </a:extLst>
          </p:cNvPr>
          <p:cNvSpPr/>
          <p:nvPr/>
        </p:nvSpPr>
        <p:spPr>
          <a:xfrm>
            <a:off x="762000" y="1360929"/>
            <a:ext cx="10709564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6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Observabilidade</a:t>
            </a: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: </a:t>
            </a:r>
            <a:r>
              <a:rPr lang="en-US" sz="6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indo</a:t>
            </a: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6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além</a:t>
            </a: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…</a:t>
            </a:r>
            <a:endParaRPr lang="en-US" sz="6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B77DBC0F-81D7-9FA9-BA93-D25748039D76}"/>
              </a:ext>
            </a:extLst>
          </p:cNvPr>
          <p:cNvSpPr/>
          <p:nvPr/>
        </p:nvSpPr>
        <p:spPr>
          <a:xfrm>
            <a:off x="762001" y="3366651"/>
            <a:ext cx="10487890" cy="4682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Entender o comportamento de diferentes serviços, sistemas, infra....</a:t>
            </a:r>
            <a:endParaRPr lang="en-US" sz="36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E </a:t>
            </a:r>
            <a:r>
              <a:rPr lang="en-US" sz="36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ir</a:t>
            </a:r>
            <a:r>
              <a:rPr lang="en-US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além</a:t>
            </a:r>
            <a:r>
              <a:rPr lang="en-US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, </a:t>
            </a:r>
            <a:r>
              <a:rPr lang="en-US" sz="36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enxergando</a:t>
            </a:r>
            <a:r>
              <a:rPr lang="en-US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interações</a:t>
            </a:r>
            <a:r>
              <a:rPr lang="en-US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entre tais </a:t>
            </a:r>
            <a:r>
              <a:rPr lang="en-US" sz="36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componentes</a:t>
            </a:r>
            <a:r>
              <a:rPr lang="en-US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!</a:t>
            </a:r>
            <a:endParaRPr lang="pt-BR" sz="36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7630D609-67D4-6C30-2F14-12801D71BCC1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3" name="Imagem 2" descr="Faca em cima de uma superfície de madeira&#10;&#10;Descrição gerada automaticamente com confiança baixa">
            <a:extLst>
              <a:ext uri="{FF2B5EF4-FFF2-40B4-BE49-F238E27FC236}">
                <a16:creationId xmlns:a16="http://schemas.microsoft.com/office/drawing/2014/main" id="{51A7484D-5C84-198C-C132-91A98D4F4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0744" y="3564944"/>
            <a:ext cx="5070135" cy="3374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3584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B73D9A-2D4A-0A93-868E-CB36CAD19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57FA1AAB-5488-ED9A-DD89-6F69E5705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B5C85EDD-F598-F0C1-B509-8937E69511AC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98011FE2-2C91-4ADE-14DA-544AD0EFBCBB}"/>
              </a:ext>
            </a:extLst>
          </p:cNvPr>
          <p:cNvSpPr/>
          <p:nvPr/>
        </p:nvSpPr>
        <p:spPr>
          <a:xfrm>
            <a:off x="762000" y="1360929"/>
            <a:ext cx="10709564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Pilares da </a:t>
            </a:r>
            <a:r>
              <a:rPr lang="en-US" sz="6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Observabilidade</a:t>
            </a:r>
            <a:endParaRPr lang="en-US" sz="6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61A3153A-875F-B11F-07C3-D9382A1210CC}"/>
              </a:ext>
            </a:extLst>
          </p:cNvPr>
          <p:cNvSpPr/>
          <p:nvPr/>
        </p:nvSpPr>
        <p:spPr>
          <a:xfrm>
            <a:off x="762001" y="3366651"/>
            <a:ext cx="10487890" cy="4682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Logs (Eventos temporais)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pt-BR" sz="44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Métricas (Indicadores)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pt-BR" sz="44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Traces (Rastreamento)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D8A496B7-6C02-8FFF-B54A-C408A790E1DB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3" name="Imagem 2" descr="Faca em cima de uma superfície de madeira&#10;&#10;Descrição gerada automaticamente com confiança baixa">
            <a:extLst>
              <a:ext uri="{FF2B5EF4-FFF2-40B4-BE49-F238E27FC236}">
                <a16:creationId xmlns:a16="http://schemas.microsoft.com/office/drawing/2014/main" id="{FD3CAF4A-7D3A-88D6-0E2E-435E172D5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0744" y="3564944"/>
            <a:ext cx="5070135" cy="3374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6752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E6BC2E-F1BC-453B-D2CD-148794B21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F92C9557-9DAB-756F-B345-E9FD8DACD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A76DA45C-76AE-462E-54B6-CE8A71DCEC65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60909B0B-8297-B229-AF19-4981A62D2E2F}"/>
              </a:ext>
            </a:extLst>
          </p:cNvPr>
          <p:cNvSpPr/>
          <p:nvPr/>
        </p:nvSpPr>
        <p:spPr>
          <a:xfrm>
            <a:off x="762000" y="1360929"/>
            <a:ext cx="14436436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54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Monitoramento e </a:t>
            </a:r>
            <a:r>
              <a:rPr lang="pt-BR" sz="54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Observabilidade</a:t>
            </a:r>
            <a:r>
              <a:rPr lang="pt-BR" sz="54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x Custos</a:t>
            </a:r>
            <a:endParaRPr lang="en-US" sz="54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10CF6871-E94E-07A0-239A-8B8AF7D30EBB}"/>
              </a:ext>
            </a:extLst>
          </p:cNvPr>
          <p:cNvSpPr/>
          <p:nvPr/>
        </p:nvSpPr>
        <p:spPr>
          <a:xfrm>
            <a:off x="762001" y="2715484"/>
            <a:ext cx="11097490" cy="67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Identificação de recursos subutilizados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Ajustes de capacidade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Detectando o consumo anormal de recursos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Otimização de </a:t>
            </a:r>
            <a:r>
              <a:rPr lang="pt-BR" sz="44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workloads</a:t>
            </a:r>
            <a:endParaRPr lang="pt-BR" sz="44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Evitar desperdícios na nuvem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4E46DD27-14C2-C896-3C5F-F3D7FEA16DEC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3" name="Imagem 2" descr="Faca em cima de uma superfície de madeira&#10;&#10;Descrição gerada automaticamente com confiança baixa">
            <a:extLst>
              <a:ext uri="{FF2B5EF4-FFF2-40B4-BE49-F238E27FC236}">
                <a16:creationId xmlns:a16="http://schemas.microsoft.com/office/drawing/2014/main" id="{EF26AD7B-D4BE-F4BD-CA31-DE2720AE8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0744" y="3564944"/>
            <a:ext cx="5070135" cy="3374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762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A0A94-D0DE-F1F5-6CF3-7C6476CA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2B939027-D5AD-716A-9D70-000BCEA9F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2530E736-F6FB-4ACC-993F-3F35BD04A31A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646529B9-7ACC-62D8-2D40-6C9C7F07E7B5}"/>
              </a:ext>
            </a:extLst>
          </p:cNvPr>
          <p:cNvSpPr/>
          <p:nvPr/>
        </p:nvSpPr>
        <p:spPr>
          <a:xfrm>
            <a:off x="761999" y="1360929"/>
            <a:ext cx="15115309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5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Monitoramento e </a:t>
            </a:r>
            <a:r>
              <a:rPr lang="pt-BR" sz="5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Observabilidade</a:t>
            </a:r>
            <a:r>
              <a:rPr lang="pt-BR" sz="5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x Estabilidade</a:t>
            </a:r>
            <a:endParaRPr lang="en-US" sz="5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1F8F3EA4-8C66-4B46-0DFC-4B2E66252FDD}"/>
              </a:ext>
            </a:extLst>
          </p:cNvPr>
          <p:cNvSpPr/>
          <p:nvPr/>
        </p:nvSpPr>
        <p:spPr>
          <a:xfrm>
            <a:off x="762001" y="2715484"/>
            <a:ext cx="11097490" cy="67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Alertas proativos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Detecção de anomalias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Análise de tendências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Diagnóstico de incidentes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Uma maior disponibilidade com um acompanhamento efetivo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585EA19C-13B7-AD33-DCCB-1287808882FB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3" name="Imagem 2" descr="Faca em cima de uma superfície de madeira&#10;&#10;Descrição gerada automaticamente com confiança baixa">
            <a:extLst>
              <a:ext uri="{FF2B5EF4-FFF2-40B4-BE49-F238E27FC236}">
                <a16:creationId xmlns:a16="http://schemas.microsoft.com/office/drawing/2014/main" id="{85EF770D-2E53-6E9B-11B9-E91AD8655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0744" y="3564944"/>
            <a:ext cx="5070135" cy="3374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5931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D5F8C-19AA-7876-5E85-9100C9F68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6642DA14-5207-0A21-46E3-38758A479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9491" y="3476977"/>
            <a:ext cx="6747596" cy="379552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89718C8-DE4E-0398-34AD-307C16906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6278BB80-4FB6-02D7-ABF4-79B5D1599B75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48976B5B-0258-A6D4-4EA2-A6DB0EAB06DD}"/>
              </a:ext>
            </a:extLst>
          </p:cNvPr>
          <p:cNvSpPr/>
          <p:nvPr/>
        </p:nvSpPr>
        <p:spPr>
          <a:xfrm>
            <a:off x="761999" y="1360929"/>
            <a:ext cx="15115309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5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Monitoramento e </a:t>
            </a:r>
            <a:r>
              <a:rPr lang="pt-BR" sz="5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Observabilidade</a:t>
            </a:r>
            <a:r>
              <a:rPr lang="pt-BR" sz="5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no Azure</a:t>
            </a:r>
            <a:endParaRPr lang="en-US" sz="5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33608065-3235-243E-F751-DC7B7A638A79}"/>
              </a:ext>
            </a:extLst>
          </p:cNvPr>
          <p:cNvSpPr/>
          <p:nvPr/>
        </p:nvSpPr>
        <p:spPr>
          <a:xfrm>
            <a:off x="762001" y="2715484"/>
            <a:ext cx="11097490" cy="67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Azure Monitor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Log </a:t>
            </a:r>
            <a:r>
              <a:rPr lang="pt-BR" sz="44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Analytics</a:t>
            </a:r>
            <a:endParaRPr lang="pt-BR" sz="44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Application</a:t>
            </a: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Insights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Azure </a:t>
            </a:r>
            <a:r>
              <a:rPr lang="pt-BR" sz="44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Managed</a:t>
            </a: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pt-BR" sz="44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Grafana</a:t>
            </a:r>
            <a:endParaRPr lang="pt-BR" sz="44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Azure </a:t>
            </a:r>
            <a:r>
              <a:rPr lang="pt-BR" sz="44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Managed</a:t>
            </a: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pt-BR" sz="44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Prometheus</a:t>
            </a:r>
            <a:endParaRPr lang="pt-BR" sz="44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42C0A391-AB1E-9210-459A-F1AC5399582D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</p:spTree>
    <p:extLst>
      <p:ext uri="{BB962C8B-B14F-4D97-AF65-F5344CB8AC3E}">
        <p14:creationId xmlns:p14="http://schemas.microsoft.com/office/powerpoint/2010/main" val="1163178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5740D6-DD30-FFF0-1518-9D600982B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70FA2C9-4C5C-B363-FACB-EF75B18C0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404FC2CF-B426-E7F5-024D-6AA057D72E79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820AC301-C686-4558-E8C6-DE8D27685305}"/>
              </a:ext>
            </a:extLst>
          </p:cNvPr>
          <p:cNvSpPr/>
          <p:nvPr/>
        </p:nvSpPr>
        <p:spPr>
          <a:xfrm>
            <a:off x="761999" y="1360929"/>
            <a:ext cx="15115309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5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Azure Monitor</a:t>
            </a:r>
            <a:endParaRPr lang="en-US" sz="5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3A9383E8-FBF0-37C7-A56B-DEC0A77ED1AC}"/>
              </a:ext>
            </a:extLst>
          </p:cNvPr>
          <p:cNvSpPr/>
          <p:nvPr/>
        </p:nvSpPr>
        <p:spPr>
          <a:xfrm>
            <a:off x="762001" y="2715484"/>
            <a:ext cx="11097490" cy="67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Monitoramento centralizado de recursos Azure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Métricas e logs em um único ecossistema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Alertas para eventos e anomalias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Dashboards para acompanhamento operacional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Insights para performance e disponibilidade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2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Application</a:t>
            </a: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Insights e Log </a:t>
            </a:r>
            <a:r>
              <a:rPr lang="pt-BR" sz="32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Analytics</a:t>
            </a: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são alguns do serviços que compõem esta solução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Azure Dashboards </a:t>
            </a:r>
            <a:r>
              <a:rPr lang="pt-BR" sz="32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with</a:t>
            </a: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pt-BR" sz="32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Grafana</a:t>
            </a: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(integra sem complicações serviços do Azure a dashboards </a:t>
            </a:r>
            <a:r>
              <a:rPr lang="pt-BR" sz="32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Grafana</a:t>
            </a: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)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42F54BF8-F890-EF0F-28C7-F9192F414F21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7C2F281D-43A6-9004-718C-3EEFD97077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80684" y="3231983"/>
            <a:ext cx="4040516" cy="404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634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AC3C0-2D92-8640-509B-453C7E17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4155848-C686-E632-6F0F-675CB6EFB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4354" y="3231983"/>
            <a:ext cx="3936846" cy="393684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E3E6D2C-38FF-5B00-9273-B089A044C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1A4A4BDA-FA16-A711-91F1-ACF37B85055B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B0851050-F341-9196-50D8-30038C330F76}"/>
              </a:ext>
            </a:extLst>
          </p:cNvPr>
          <p:cNvSpPr/>
          <p:nvPr/>
        </p:nvSpPr>
        <p:spPr>
          <a:xfrm>
            <a:off x="761999" y="1360929"/>
            <a:ext cx="15115309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5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Log </a:t>
            </a:r>
            <a:r>
              <a:rPr lang="pt-BR" sz="5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Analytics</a:t>
            </a:r>
            <a:endParaRPr lang="en-US" sz="5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33421C0D-EF00-758B-D0DF-3D05EAA12473}"/>
              </a:ext>
            </a:extLst>
          </p:cNvPr>
          <p:cNvSpPr/>
          <p:nvPr/>
        </p:nvSpPr>
        <p:spPr>
          <a:xfrm>
            <a:off x="762001" y="2715484"/>
            <a:ext cx="11097490" cy="67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Monitoramento centralizado de recursos Azure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Métricas e logs em um único ecossistema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Alertas para eventos e anomalias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Dashboards para acompanhamento operacional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Insights para performance e disponibilidade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Application</a:t>
            </a: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Insights e Log </a:t>
            </a:r>
            <a:r>
              <a:rPr lang="pt-BR" sz="36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Analytics</a:t>
            </a: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são alguns do serviços que compõem esta solução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A72D73CA-B132-B42C-8897-B4DECBAC8B7D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</p:spTree>
    <p:extLst>
      <p:ext uri="{BB962C8B-B14F-4D97-AF65-F5344CB8AC3E}">
        <p14:creationId xmlns:p14="http://schemas.microsoft.com/office/powerpoint/2010/main" val="880362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33574-102E-6556-8037-8D667F7C8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6B2955BD-3A31-AF28-45FC-157E30EC9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032282A4-6269-B198-4411-23DFEFBA296A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6E53FAE7-608D-5B1A-018F-A067A31824D9}"/>
              </a:ext>
            </a:extLst>
          </p:cNvPr>
          <p:cNvSpPr/>
          <p:nvPr/>
        </p:nvSpPr>
        <p:spPr>
          <a:xfrm>
            <a:off x="761999" y="1360929"/>
            <a:ext cx="15115309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5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Application</a:t>
            </a:r>
            <a:r>
              <a:rPr lang="pt-BR" sz="5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Insights</a:t>
            </a:r>
            <a:endParaRPr lang="en-US" sz="5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214347A4-6043-7EAD-5EA6-5C67F3C63FF4}"/>
              </a:ext>
            </a:extLst>
          </p:cNvPr>
          <p:cNvSpPr/>
          <p:nvPr/>
        </p:nvSpPr>
        <p:spPr>
          <a:xfrm>
            <a:off x="762001" y="2715484"/>
            <a:ext cx="11097490" cy="67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Monitoramento de aplicações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Performance e disponibilidade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Erros e exceções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Dependências externas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Tempos de resposta, volume de requisições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Totalmente compatível com </a:t>
            </a:r>
            <a:r>
              <a:rPr lang="pt-BR" sz="36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OpenTelemetry</a:t>
            </a:r>
            <a:endParaRPr lang="pt-BR" sz="36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F2AC93FA-ECCA-31C7-802C-541A78843EC0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6EA6A69E-B5EC-D92F-5558-51D42BBC2A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23729" y="3457954"/>
            <a:ext cx="3916453" cy="391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24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7943B-1EFB-30FC-6A38-6DBD86583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5335455D-6D95-9556-F8DA-7F2791BF4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35357F85-9095-F6B4-1330-BF18CDA56B8C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338F324C-45FD-23C3-5220-7DB79618DA44}"/>
              </a:ext>
            </a:extLst>
          </p:cNvPr>
          <p:cNvSpPr/>
          <p:nvPr/>
        </p:nvSpPr>
        <p:spPr>
          <a:xfrm>
            <a:off x="761999" y="1360929"/>
            <a:ext cx="15115309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5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OpenTelemetry</a:t>
            </a:r>
            <a:endParaRPr lang="en-US" sz="5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CA005F7B-561D-8C2C-5CB0-C9CF63114511}"/>
              </a:ext>
            </a:extLst>
          </p:cNvPr>
          <p:cNvSpPr/>
          <p:nvPr/>
        </p:nvSpPr>
        <p:spPr>
          <a:xfrm>
            <a:off x="762001" y="2715484"/>
            <a:ext cx="11097490" cy="67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Instrumentação em aplicações para coleta de traces, logs e métricas 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Viabiliza a implementação de </a:t>
            </a:r>
            <a:r>
              <a:rPr lang="pt-BR" sz="32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tracing</a:t>
            </a: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distribuído de forma descomplicada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Padrão open </a:t>
            </a:r>
            <a:r>
              <a:rPr lang="pt-BR" sz="32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source</a:t>
            </a: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cada vez mais empregado em Monitoramento e </a:t>
            </a:r>
            <a:r>
              <a:rPr lang="pt-BR" sz="32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Observabilidade</a:t>
            </a:r>
            <a:endParaRPr lang="pt-BR" sz="32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Um projeto da CNCF (Cloud </a:t>
            </a:r>
            <a:r>
              <a:rPr lang="pt-BR" sz="32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Native</a:t>
            </a: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pt-BR" sz="32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Computing</a:t>
            </a: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Foundation)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Suporte a múltiplas </a:t>
            </a:r>
            <a:r>
              <a:rPr lang="pt-BR" sz="32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stacks</a:t>
            </a:r>
            <a:r>
              <a:rPr lang="pt-BR" sz="32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: .NET, Java, Node.js, Python...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6AEE71C4-9FBC-9752-E464-1830230BEE4E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97BF4302-F103-E73C-5046-961EB1FD63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84354" y="3733800"/>
            <a:ext cx="3629809" cy="362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12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6B244A-AE49-CF79-C3F5-805D7B05A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50A68484-5D31-50C5-10E9-EB97DD694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932C0F8C-1F3E-A22D-D1AB-EADE79AC83FD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190742A7-6FF9-B822-476F-13C3E1AF7727}"/>
              </a:ext>
            </a:extLst>
          </p:cNvPr>
          <p:cNvSpPr/>
          <p:nvPr/>
        </p:nvSpPr>
        <p:spPr>
          <a:xfrm>
            <a:off x="762000" y="1360929"/>
            <a:ext cx="10709564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Grafana: </a:t>
            </a:r>
            <a:r>
              <a:rPr lang="en-US" sz="6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uma</a:t>
            </a: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6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visão</a:t>
            </a: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6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geral</a:t>
            </a:r>
            <a:endParaRPr lang="en-US" sz="6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AB1724DA-ADBC-E43E-18D8-7416C6AEB8FB}"/>
              </a:ext>
            </a:extLst>
          </p:cNvPr>
          <p:cNvSpPr/>
          <p:nvPr/>
        </p:nvSpPr>
        <p:spPr>
          <a:xfrm>
            <a:off x="762001" y="2798612"/>
            <a:ext cx="12663054" cy="6726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Monitoramento e </a:t>
            </a:r>
            <a:r>
              <a:rPr lang="pt-BR" sz="40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observabilidade</a:t>
            </a: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de aplicações e infraestrutura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Dashboards para visualização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Inúmeras fontes de dados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Alertas de monitoramento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Open </a:t>
            </a:r>
            <a:r>
              <a:rPr lang="pt-BR" sz="40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source</a:t>
            </a:r>
            <a:endParaRPr lang="pt-BR" sz="40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>
              <a:lnSpc>
                <a:spcPct val="125000"/>
              </a:lnSpc>
              <a:spcAft>
                <a:spcPts val="1800"/>
              </a:spcAft>
            </a:pPr>
            <a:endParaRPr lang="pt-BR" sz="40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>
              <a:lnSpc>
                <a:spcPct val="125000"/>
              </a:lnSpc>
              <a:spcAft>
                <a:spcPts val="1800"/>
              </a:spcAft>
            </a:pPr>
            <a:endParaRPr lang="pt-BR" sz="40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>
              <a:lnSpc>
                <a:spcPct val="125000"/>
              </a:lnSpc>
              <a:spcAft>
                <a:spcPts val="1800"/>
              </a:spcAft>
            </a:pPr>
            <a:endParaRPr lang="pt-BR" sz="40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AB34F9BE-2844-BB5E-C285-BFCCDA551B8A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31F904D6-DEA9-F41D-E88E-14A7F2635B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75234" y="3269093"/>
            <a:ext cx="4025645" cy="418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63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DC5F7-3628-BF9E-B877-0E6794B43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B08A2F4E-B868-2FEF-7596-48B173677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B4E18BE7-157A-EBC8-E390-BB505D0EDBD0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66A48E82-92F8-3182-8F90-78D03550151A}"/>
              </a:ext>
            </a:extLst>
          </p:cNvPr>
          <p:cNvSpPr/>
          <p:nvPr/>
        </p:nvSpPr>
        <p:spPr>
          <a:xfrm>
            <a:off x="762000" y="1360929"/>
            <a:ext cx="10709564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Azure Managed Grafana</a:t>
            </a:r>
            <a:endParaRPr lang="en-US" sz="6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C1FA137A-2BA8-C542-BD45-D75C12928D34}"/>
              </a:ext>
            </a:extLst>
          </p:cNvPr>
          <p:cNvSpPr/>
          <p:nvPr/>
        </p:nvSpPr>
        <p:spPr>
          <a:xfrm>
            <a:off x="762001" y="3366651"/>
            <a:ext cx="12385963" cy="6054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Serviço gerenciado na nuvem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Segurança integrada com o Microsoft Entra ID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Otimizações integrando dashboards a recursos como Azure Monitor, Log </a:t>
            </a:r>
            <a:r>
              <a:rPr lang="pt-BR" sz="44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Analytics</a:t>
            </a: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, </a:t>
            </a:r>
            <a:r>
              <a:rPr lang="pt-BR" sz="44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Application</a:t>
            </a: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Insights...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8B9357A9-014D-D605-3287-4FD02431E585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794D96C9-B402-A8EB-1EC9-E7EF20A353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63382" y="2116282"/>
            <a:ext cx="6054436" cy="60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77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3E74B7-72F4-E4A3-1D53-52F680474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98A69754-51A7-C76D-C19C-FCE699BE1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689C051C-FA25-EF12-91D0-B5AA58C17FF9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2457E70B-1E5A-6A95-CB88-BAFA85D04525}"/>
              </a:ext>
            </a:extLst>
          </p:cNvPr>
          <p:cNvSpPr/>
          <p:nvPr/>
        </p:nvSpPr>
        <p:spPr>
          <a:xfrm>
            <a:off x="762000" y="1360929"/>
            <a:ext cx="10709564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Azure Managed Grafana</a:t>
            </a:r>
            <a:endParaRPr lang="en-US" sz="6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00B4742B-D9F2-6BF1-720E-4475F4C15E4E}"/>
              </a:ext>
            </a:extLst>
          </p:cNvPr>
          <p:cNvSpPr/>
          <p:nvPr/>
        </p:nvSpPr>
        <p:spPr>
          <a:xfrm>
            <a:off x="762001" y="2729338"/>
            <a:ext cx="11901381" cy="679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Pode ir além das capacidades de serviços baseados no Azure Monitor, através do uso de dashboards mais específicos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Possibilidade de uso de dashboards desenvolvidos pela comunidade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Fácil Integração com </a:t>
            </a:r>
            <a:r>
              <a:rPr lang="pt-BR" sz="40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Prometheus</a:t>
            </a: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, muito útil em cenários envolvendo containers e tecnologias cloud </a:t>
            </a:r>
            <a:r>
              <a:rPr lang="pt-BR" sz="40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native</a:t>
            </a:r>
            <a:endParaRPr lang="pt-BR" sz="40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03B0FAFF-4F94-15D9-C635-FBD9631EEE30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8E2AEFCD-B06A-4089-89FA-C786074CE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63382" y="2116282"/>
            <a:ext cx="6054436" cy="60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2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CD46F-3F58-4CAE-1922-FFDC8DACB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95DE7C-3A8C-1AF4-B1E4-D854C558B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" y="1459"/>
            <a:ext cx="18285406" cy="10285541"/>
          </a:xfrm>
          <a:prstGeom prst="rect">
            <a:avLst/>
          </a:prstGeom>
        </p:spPr>
      </p:pic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6903003B-A77C-0F4F-3AFB-1CAC342CD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533" y="3572412"/>
            <a:ext cx="2798934" cy="279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139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2C5C87-A317-D174-6E87-5246CA6A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1C0C73A1-AFB6-30DF-41C1-E640F1CA8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505045F1-B88E-C654-AF92-A0155B31D14A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51A0FC18-00CA-3C0C-CEF7-99DD14A73014}"/>
              </a:ext>
            </a:extLst>
          </p:cNvPr>
          <p:cNvSpPr/>
          <p:nvPr/>
        </p:nvSpPr>
        <p:spPr>
          <a:xfrm>
            <a:off x="762000" y="1360929"/>
            <a:ext cx="10709564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6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Azure Managed Prometheus</a:t>
            </a:r>
            <a:endParaRPr lang="en-US" sz="6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8064337B-29F3-5166-E011-9862EC4A88EB}"/>
              </a:ext>
            </a:extLst>
          </p:cNvPr>
          <p:cNvSpPr/>
          <p:nvPr/>
        </p:nvSpPr>
        <p:spPr>
          <a:xfrm>
            <a:off x="762001" y="2729338"/>
            <a:ext cx="11901381" cy="679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Solução para coleta, armazenamento e consulta de métricas de monitoramento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Baseado na versão open </a:t>
            </a:r>
            <a:r>
              <a:rPr lang="pt-BR" sz="40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source</a:t>
            </a: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do </a:t>
            </a:r>
            <a:r>
              <a:rPr lang="pt-BR" sz="40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Prometheus</a:t>
            </a:r>
            <a:endParaRPr lang="pt-BR" sz="40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 combinação </a:t>
            </a:r>
            <a:r>
              <a:rPr lang="pt-BR" sz="40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Prometheus</a:t>
            </a: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+ </a:t>
            </a:r>
            <a:r>
              <a:rPr lang="pt-BR" sz="40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Grafana</a:t>
            </a: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é uma presença praticamente certa em ambientes </a:t>
            </a:r>
            <a:r>
              <a:rPr lang="pt-BR" sz="40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Kubernetes</a:t>
            </a: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179B33D1-A490-34A2-A7FB-49603A9E22EF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6170C80-7AA8-20E4-4F9C-69BA747F55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06716" y="3124400"/>
            <a:ext cx="4094163" cy="40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048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42BF7-42F8-DA3E-3F24-A3AD29A48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F61C2A62-5D9F-4EDF-16CE-F885455F9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pic>
        <p:nvPicPr>
          <p:cNvPr id="6" name="image" descr="preencoded.png">
            <a:extLst>
              <a:ext uri="{FF2B5EF4-FFF2-40B4-BE49-F238E27FC236}">
                <a16:creationId xmlns:a16="http://schemas.microsoft.com/office/drawing/2014/main" id="{C5CA2F95-A239-B915-483C-62E17CC9E4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916025" y="2705100"/>
            <a:ext cx="3609975" cy="5276850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4B6748B3-6ACA-5951-15CD-BE6C30422089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8CC9F5B2-C306-CB9F-A4C8-CAAC11F3BE8C}"/>
              </a:ext>
            </a:extLst>
          </p:cNvPr>
          <p:cNvSpPr/>
          <p:nvPr/>
        </p:nvSpPr>
        <p:spPr>
          <a:xfrm>
            <a:off x="762000" y="3023477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8696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Exemplos</a:t>
            </a:r>
            <a:br>
              <a:rPr lang="en-US" sz="8696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</a:br>
            <a:r>
              <a:rPr lang="en-US" sz="8696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práticos</a:t>
            </a:r>
            <a:endParaRPr lang="en-US" sz="8696" b="1" dirty="0">
              <a:solidFill>
                <a:srgbClr val="A42FFC"/>
              </a:solidFill>
              <a:latin typeface="Maven Pro Black" pitchFamily="2" charset="77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A4AE8E63-5984-DD3E-C026-4CF46B07C3EF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</p:spTree>
    <p:extLst>
      <p:ext uri="{BB962C8B-B14F-4D97-AF65-F5344CB8AC3E}">
        <p14:creationId xmlns:p14="http://schemas.microsoft.com/office/powerpoint/2010/main" val="9313696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EDA019-9E19-7446-6F23-1C444E3E3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FC27DEDB-2A80-96E1-AB59-BAB31F974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946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3BCF97DE-2E8D-CF1B-FF95-734BAD8B88C3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F0935338-E0DF-06EA-E5F2-22A9AE8A26E3}"/>
              </a:ext>
            </a:extLst>
          </p:cNvPr>
          <p:cNvSpPr/>
          <p:nvPr/>
        </p:nvSpPr>
        <p:spPr>
          <a:xfrm>
            <a:off x="762000" y="1360929"/>
            <a:ext cx="10709564" cy="102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53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Conteúdos</a:t>
            </a:r>
            <a:r>
              <a:rPr lang="en-US" sz="53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53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desta</a:t>
            </a:r>
            <a:r>
              <a:rPr lang="en-US" sz="53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53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apresentação</a:t>
            </a:r>
            <a:endParaRPr lang="en-US" sz="53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3E9282B3-986B-F28D-F4FA-78E7094CC343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28818B-22B2-5D7F-CB18-E26E3C56432B}"/>
              </a:ext>
            </a:extLst>
          </p:cNvPr>
          <p:cNvSpPr txBox="1">
            <a:spLocks/>
          </p:cNvSpPr>
          <p:nvPr/>
        </p:nvSpPr>
        <p:spPr>
          <a:xfrm>
            <a:off x="11790325" y="4454711"/>
            <a:ext cx="4762500" cy="117369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44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44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44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44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44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A8907FD8-515B-30BA-29AB-097A6F6B1EAB}"/>
              </a:ext>
            </a:extLst>
          </p:cNvPr>
          <p:cNvSpPr>
            <a:spLocks noGrp="1"/>
          </p:cNvSpPr>
          <p:nvPr/>
        </p:nvSpPr>
        <p:spPr>
          <a:xfrm>
            <a:off x="1066800" y="8139048"/>
            <a:ext cx="16306800" cy="7386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>
                <a:solidFill>
                  <a:schemeClr val="bg1"/>
                </a:solidFill>
              </a:rPr>
              <a:t>github.com/renatogroffe/monitoramento-azure_mvpconf-jundiai-2026-08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222ADED7-C7C9-0883-CD7C-BB953459B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627" y="2673927"/>
            <a:ext cx="4939145" cy="493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42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2699D-D92C-2601-F68E-56B96D25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C8AB21D-1FBE-BAC1-B396-08D6E7201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75" y="732972"/>
            <a:ext cx="2432775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A3301F8E-F67C-E6FB-B0D0-01370B8BFB08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61778D11-EE6B-EE86-2280-4C9BC2B61979}"/>
              </a:ext>
            </a:extLst>
          </p:cNvPr>
          <p:cNvSpPr/>
          <p:nvPr/>
        </p:nvSpPr>
        <p:spPr>
          <a:xfrm>
            <a:off x="761999" y="1896376"/>
            <a:ext cx="16938879" cy="145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8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Siga MVP CONF </a:t>
            </a:r>
            <a:r>
              <a:rPr lang="en-US" sz="8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nas</a:t>
            </a:r>
            <a:r>
              <a:rPr lang="en-US" sz="8000" b="1" dirty="0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redes </a:t>
            </a:r>
            <a:r>
              <a:rPr lang="en-US" sz="8000" b="1" dirty="0" err="1">
                <a:solidFill>
                  <a:srgbClr val="A42FFC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sociais</a:t>
            </a:r>
            <a:endParaRPr lang="en-US" sz="8000" b="1" dirty="0">
              <a:solidFill>
                <a:srgbClr val="A42FFC"/>
              </a:solidFill>
              <a:latin typeface="Maven Pro Black" pitchFamily="2" charset="77"/>
            </a:endParaRPr>
          </a:p>
        </p:txBody>
      </p:sp>
      <p:sp>
        <p:nvSpPr>
          <p:cNvPr id="11" name="Tecnologia  o meio Pessoas so o fim">
            <a:extLst>
              <a:ext uri="{FF2B5EF4-FFF2-40B4-BE49-F238E27FC236}">
                <a16:creationId xmlns:a16="http://schemas.microsoft.com/office/drawing/2014/main" id="{E769BD2A-3BA4-4405-CF73-DD6CE7E8ABAA}"/>
              </a:ext>
            </a:extLst>
          </p:cNvPr>
          <p:cNvSpPr/>
          <p:nvPr/>
        </p:nvSpPr>
        <p:spPr>
          <a:xfrm>
            <a:off x="6010275" y="8714664"/>
            <a:ext cx="62674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spcAft>
                <a:spcPts val="2355"/>
              </a:spcAft>
              <a:buNone/>
            </a:pPr>
            <a:endParaRPr lang="en-US" sz="2552" dirty="0">
              <a:latin typeface="Maven Pro Medium" pitchFamily="2" charset="77"/>
            </a:endParaRPr>
          </a:p>
        </p:txBody>
      </p:sp>
      <p:sp>
        <p:nvSpPr>
          <p:cNvPr id="12" name="Terminador 11">
            <a:extLst>
              <a:ext uri="{FF2B5EF4-FFF2-40B4-BE49-F238E27FC236}">
                <a16:creationId xmlns:a16="http://schemas.microsoft.com/office/drawing/2014/main" id="{BB4B9BA1-59C2-D47D-ED74-178044078B74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A42FF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3260277-BAD2-7E33-7A6B-CABE3D866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642" y="3926794"/>
            <a:ext cx="3905250" cy="390525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92571CA-C9DA-28C5-5229-69576E78F0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0188" y="3734275"/>
            <a:ext cx="4795073" cy="4598911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FC01F3B-C189-F2F8-06A7-158210EB06A9}"/>
              </a:ext>
            </a:extLst>
          </p:cNvPr>
          <p:cNvSpPr txBox="1"/>
          <p:nvPr/>
        </p:nvSpPr>
        <p:spPr>
          <a:xfrm>
            <a:off x="3398520" y="8067458"/>
            <a:ext cx="2611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LINKEDIN</a:t>
            </a:r>
          </a:p>
        </p:txBody>
      </p:sp>
    </p:spTree>
    <p:extLst>
      <p:ext uri="{BB962C8B-B14F-4D97-AF65-F5344CB8AC3E}">
        <p14:creationId xmlns:p14="http://schemas.microsoft.com/office/powerpoint/2010/main" val="2639323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2F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A7154-56D1-3ECE-0E7D-C8868EE6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VP Conf">
            <a:extLst>
              <a:ext uri="{FF2B5EF4-FFF2-40B4-BE49-F238E27FC236}">
                <a16:creationId xmlns:a16="http://schemas.microsoft.com/office/drawing/2014/main" id="{BCE8F8E1-9D0C-89A3-84E8-E5260F542DB7}"/>
              </a:ext>
            </a:extLst>
          </p:cNvPr>
          <p:cNvSpPr/>
          <p:nvPr/>
        </p:nvSpPr>
        <p:spPr>
          <a:xfrm>
            <a:off x="1176338" y="173134"/>
            <a:ext cx="16511587" cy="3823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833"/>
              </a:lnSpc>
              <a:spcAft>
                <a:spcPts val="30672"/>
              </a:spcAft>
              <a:buNone/>
            </a:pPr>
            <a:r>
              <a:rPr lang="en-US" sz="13900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Obrigada(o)!</a:t>
            </a:r>
            <a:endParaRPr lang="en-US" sz="13900" b="1" dirty="0">
              <a:latin typeface="Maven Pro Black" pitchFamily="2" charset="77"/>
            </a:endParaRPr>
          </a:p>
        </p:txBody>
      </p:sp>
      <p:pic>
        <p:nvPicPr>
          <p:cNvPr id="3" name="Rectangle 6" descr="preencoded.png">
            <a:extLst>
              <a:ext uri="{FF2B5EF4-FFF2-40B4-BE49-F238E27FC236}">
                <a16:creationId xmlns:a16="http://schemas.microsoft.com/office/drawing/2014/main" id="{557F6314-F054-611E-34C1-3CAA58AB04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3629025" cy="16383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2AC16B9-4E57-5D2A-8D14-248C1AAAB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87496"/>
            <a:ext cx="2432775" cy="460254"/>
          </a:xfrm>
          <a:prstGeom prst="rect">
            <a:avLst/>
          </a:prstGeom>
        </p:spPr>
      </p:pic>
      <p:sp>
        <p:nvSpPr>
          <p:cNvPr id="10" name="Terminador 9">
            <a:extLst>
              <a:ext uri="{FF2B5EF4-FFF2-40B4-BE49-F238E27FC236}">
                <a16:creationId xmlns:a16="http://schemas.microsoft.com/office/drawing/2014/main" id="{59FDABD2-19C3-D07E-FF38-E32F2DFA58FC}"/>
              </a:ext>
            </a:extLst>
          </p:cNvPr>
          <p:cNvSpPr/>
          <p:nvPr/>
        </p:nvSpPr>
        <p:spPr>
          <a:xfrm>
            <a:off x="15391818" y="610740"/>
            <a:ext cx="2296107" cy="71856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A42FFC"/>
                </a:solidFill>
                <a:latin typeface="Maven Pro ExtraBold" pitchFamily="2" charset="77"/>
              </a:rPr>
              <a:t>Regional</a:t>
            </a:r>
          </a:p>
        </p:txBody>
      </p:sp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D88EB5C3-C023-355B-DF7C-C90C0EDCF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375" y="6353518"/>
            <a:ext cx="3365560" cy="336556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0CE9DCC-9E9C-9279-F792-C35434513B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2376" y="2556208"/>
            <a:ext cx="3365560" cy="3734324"/>
          </a:xfrm>
          <a:prstGeom prst="rect">
            <a:avLst/>
          </a:prstGeom>
        </p:spPr>
      </p:pic>
      <p:pic>
        <p:nvPicPr>
          <p:cNvPr id="12" name="Picture 4" descr="imagem do perfil">
            <a:extLst>
              <a:ext uri="{FF2B5EF4-FFF2-40B4-BE49-F238E27FC236}">
                <a16:creationId xmlns:a16="http://schemas.microsoft.com/office/drawing/2014/main" id="{B847960F-06D7-01FC-182E-FE27D16A5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962" y="2556208"/>
            <a:ext cx="3305099" cy="330509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>
            <a:extLst>
              <a:ext uri="{FF2B5EF4-FFF2-40B4-BE49-F238E27FC236}">
                <a16:creationId xmlns:a16="http://schemas.microsoft.com/office/drawing/2014/main" id="{ACA46629-74C5-230B-F4D1-1B02F936C8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5440" y="6337928"/>
            <a:ext cx="3429391" cy="336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97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856</Words>
  <Application>Microsoft Office PowerPoint</Application>
  <PresentationFormat>Personalizar</PresentationFormat>
  <Paragraphs>200</Paragraphs>
  <Slides>26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5" baseType="lpstr">
      <vt:lpstr>Maven Pro Black</vt:lpstr>
      <vt:lpstr>Calibri</vt:lpstr>
      <vt:lpstr>Maven Pro ExtraBold</vt:lpstr>
      <vt:lpstr>Maven Pro Medium</vt:lpstr>
      <vt:lpstr>Segoe UI Light</vt:lpstr>
      <vt:lpstr>Arial</vt:lpstr>
      <vt:lpstr>Maven Pro Regular</vt:lpstr>
      <vt:lpstr>Aptos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/>
  <dc:description/>
  <cp:lastModifiedBy>Renato Groffe</cp:lastModifiedBy>
  <cp:revision>18</cp:revision>
  <dcterms:created xsi:type="dcterms:W3CDTF">2025-05-13T22:34:59Z</dcterms:created>
  <dcterms:modified xsi:type="dcterms:W3CDTF">2026-08-22T05:40:37Z</dcterms:modified>
  <cp:category/>
</cp:coreProperties>
</file>